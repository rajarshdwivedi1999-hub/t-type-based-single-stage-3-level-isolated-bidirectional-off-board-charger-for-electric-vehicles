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1"/>
  </p:sldMasterIdLst>
  <p:notesMasterIdLst>
    <p:notesMasterId r:id="rId3"/>
  </p:notesMasterIdLst>
  <p:handoutMasterIdLst>
    <p:handoutMasterId r:id="rId4"/>
  </p:handoutMasterIdLst>
  <p:sldIdLst>
    <p:sldId id="3466" r:id="rId2"/>
  </p:sldIdLst>
  <p:sldSz cx="9601200" cy="12801600" type="A3"/>
  <p:notesSz cx="1466215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7B47AA4-E88B-9BBD-3207-B02FBB1AD1B9}" name="Amarendra Singh" initials="AS" userId="e65659b92969b05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5861" autoAdjust="0"/>
  </p:normalViewPr>
  <p:slideViewPr>
    <p:cSldViewPr snapToGrid="0">
      <p:cViewPr varScale="1">
        <p:scale>
          <a:sx n="52" d="100"/>
          <a:sy n="52" d="100"/>
        </p:scale>
        <p:origin x="277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DABD520-4515-F169-DB35-28EF963BCC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6354236" cy="512747"/>
          </a:xfrm>
          <a:prstGeom prst="rect">
            <a:avLst/>
          </a:prstGeom>
        </p:spPr>
        <p:txBody>
          <a:bodyPr vert="horz" lIns="134572" tIns="67286" rIns="134572" bIns="67286" rtlCol="0"/>
          <a:lstStyle>
            <a:lvl1pPr algn="l">
              <a:defRPr sz="18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E1607F-6479-89BD-12A9-7607E49E105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8304734" y="1"/>
            <a:ext cx="6354236" cy="512747"/>
          </a:xfrm>
          <a:prstGeom prst="rect">
            <a:avLst/>
          </a:prstGeom>
        </p:spPr>
        <p:txBody>
          <a:bodyPr vert="horz" lIns="134572" tIns="67286" rIns="134572" bIns="67286" rtlCol="0"/>
          <a:lstStyle>
            <a:lvl1pPr algn="r">
              <a:defRPr sz="1800"/>
            </a:lvl1pPr>
          </a:lstStyle>
          <a:p>
            <a:r>
              <a:rPr lang="en-IN"/>
              <a:t>01-05-2024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56EE11-58F7-1139-4975-406ED68506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68"/>
            <a:ext cx="6354236" cy="512745"/>
          </a:xfrm>
          <a:prstGeom prst="rect">
            <a:avLst/>
          </a:prstGeom>
        </p:spPr>
        <p:txBody>
          <a:bodyPr vert="horz" lIns="134572" tIns="67286" rIns="134572" bIns="67286" rtlCol="0" anchor="b"/>
          <a:lstStyle>
            <a:lvl1pPr algn="l">
              <a:defRPr sz="18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AD607-BDEA-7294-EB67-C60EA0F152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8304734" y="9721868"/>
            <a:ext cx="6354236" cy="512745"/>
          </a:xfrm>
          <a:prstGeom prst="rect">
            <a:avLst/>
          </a:prstGeom>
        </p:spPr>
        <p:txBody>
          <a:bodyPr vert="horz" lIns="134572" tIns="67286" rIns="134572" bIns="67286" rtlCol="0" anchor="b"/>
          <a:lstStyle>
            <a:lvl1pPr algn="r">
              <a:defRPr sz="1800"/>
            </a:lvl1pPr>
          </a:lstStyle>
          <a:p>
            <a:fld id="{DB0DC2D0-5237-47D8-B563-FADAF67D2A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7182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6353598" cy="513507"/>
          </a:xfrm>
          <a:prstGeom prst="rect">
            <a:avLst/>
          </a:prstGeom>
        </p:spPr>
        <p:txBody>
          <a:bodyPr vert="horz" lIns="142256" tIns="71129" rIns="142256" bIns="71129" rtlCol="0"/>
          <a:lstStyle>
            <a:lvl1pPr algn="l">
              <a:defRPr sz="19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305159" y="1"/>
            <a:ext cx="6353598" cy="513507"/>
          </a:xfrm>
          <a:prstGeom prst="rect">
            <a:avLst/>
          </a:prstGeom>
        </p:spPr>
        <p:txBody>
          <a:bodyPr vert="horz" lIns="142256" tIns="71129" rIns="142256" bIns="71129" rtlCol="0"/>
          <a:lstStyle>
            <a:lvl1pPr algn="r">
              <a:defRPr sz="1900"/>
            </a:lvl1pPr>
          </a:lstStyle>
          <a:p>
            <a:r>
              <a:rPr lang="en-IN"/>
              <a:t>01-05-2024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35675" y="1279525"/>
            <a:ext cx="259080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42256" tIns="71129" rIns="142256" bIns="71129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6216" y="4925408"/>
            <a:ext cx="11729719" cy="4029879"/>
          </a:xfrm>
          <a:prstGeom prst="rect">
            <a:avLst/>
          </a:prstGeom>
        </p:spPr>
        <p:txBody>
          <a:bodyPr vert="horz" lIns="142256" tIns="71129" rIns="142256" bIns="7112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8"/>
            <a:ext cx="6353598" cy="513507"/>
          </a:xfrm>
          <a:prstGeom prst="rect">
            <a:avLst/>
          </a:prstGeom>
        </p:spPr>
        <p:txBody>
          <a:bodyPr vert="horz" lIns="142256" tIns="71129" rIns="142256" bIns="71129" rtlCol="0" anchor="b"/>
          <a:lstStyle>
            <a:lvl1pPr algn="l">
              <a:defRPr sz="19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305159" y="9721108"/>
            <a:ext cx="6353598" cy="513507"/>
          </a:xfrm>
          <a:prstGeom prst="rect">
            <a:avLst/>
          </a:prstGeom>
        </p:spPr>
        <p:txBody>
          <a:bodyPr vert="horz" lIns="142256" tIns="71129" rIns="142256" bIns="71129" rtlCol="0" anchor="b"/>
          <a:lstStyle>
            <a:lvl1pPr algn="r">
              <a:defRPr sz="1900"/>
            </a:lvl1pPr>
          </a:lstStyle>
          <a:p>
            <a:fld id="{3D66F968-B79B-4C53-8DA3-409A47CD35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06745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1pPr>
    <a:lvl2pPr marL="537667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2pPr>
    <a:lvl3pPr marL="1075334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3pPr>
    <a:lvl4pPr marL="1613002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4pPr>
    <a:lvl5pPr marL="2150669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5pPr>
    <a:lvl6pPr marL="2688336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6pPr>
    <a:lvl7pPr marL="3226003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7pPr>
    <a:lvl8pPr marL="3763670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8pPr>
    <a:lvl9pPr marL="4301338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700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DBE16-6D78-4E06-AAE1-E566F316C1EB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CC1B-B6B8-3F47-A4A7-740AC4CEA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64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B100-DB56-4291-BBEB-9C606FCD0BD8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CC1B-B6B8-3F47-A4A7-740AC4CEA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74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7292-6872-4901-B857-B682ABDD8ADB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CC1B-B6B8-3F47-A4A7-740AC4CEA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54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62F6-10F4-41C5-A83F-64D62E460050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CC1B-B6B8-3F47-A4A7-740AC4CEA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012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0F53F-5D6E-4636-AFDE-B551A6D4E776}" type="datetime1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CC1B-B6B8-3F47-A4A7-740AC4CEA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111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48805-5B15-4CD6-A8C4-B7CF2D834C76}" type="datetime1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CC1B-B6B8-3F47-A4A7-740AC4CEA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12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B3709-9A69-4FC9-8599-EB0F28BD86FD}" type="datetime1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CC1B-B6B8-3F47-A4A7-740AC4CEA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935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07A29-99A1-4BD5-B682-7EF85D19E107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CC1B-B6B8-3F47-A4A7-740AC4CEA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84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14ACD-8C1A-46B3-A4A3-ECA5BC5517CB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CC1B-B6B8-3F47-A4A7-740AC4CEA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613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AF36A-42D0-4264-AF08-002EA2BBBB72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CC1B-B6B8-3F47-A4A7-740AC4CEA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539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89E66-CC71-48C3-BD20-AB5FE7C0E34C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CC1B-B6B8-3F47-A4A7-740AC4CEA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83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B06008-57DC-4F83-A7D0-EEE84E044ED7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FCC1B-B6B8-3F47-A4A7-740AC4CEA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492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Rectangle 1035">
            <a:extLst>
              <a:ext uri="{FF2B5EF4-FFF2-40B4-BE49-F238E27FC236}">
                <a16:creationId xmlns:a16="http://schemas.microsoft.com/office/drawing/2014/main" id="{F9FF272F-43DD-0BB9-1A51-5C864D472588}"/>
              </a:ext>
            </a:extLst>
          </p:cNvPr>
          <p:cNvSpPr/>
          <p:nvPr/>
        </p:nvSpPr>
        <p:spPr>
          <a:xfrm>
            <a:off x="21501" y="0"/>
            <a:ext cx="9558195" cy="12801599"/>
          </a:xfrm>
          <a:prstGeom prst="rect">
            <a:avLst/>
          </a:prstGeom>
          <a:ln w="76200"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62A43B-5EB8-94C2-68B7-53778366258D}"/>
              </a:ext>
            </a:extLst>
          </p:cNvPr>
          <p:cNvSpPr/>
          <p:nvPr/>
        </p:nvSpPr>
        <p:spPr>
          <a:xfrm>
            <a:off x="230231" y="100297"/>
            <a:ext cx="9137176" cy="690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 Modified T-type Based Single-Stage 3-Level Isolated Bidirectional Off-Board Charger For Electric Vehicles</a:t>
            </a:r>
            <a:endParaRPr lang="en-IN" sz="2400" dirty="0">
              <a:ln w="0"/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0EA7BF9-AB7F-ABAB-C419-74B97820334A}"/>
              </a:ext>
            </a:extLst>
          </p:cNvPr>
          <p:cNvGrpSpPr/>
          <p:nvPr/>
        </p:nvGrpSpPr>
        <p:grpSpPr>
          <a:xfrm>
            <a:off x="6536124" y="7886059"/>
            <a:ext cx="2945989" cy="2703156"/>
            <a:chOff x="138755" y="4437206"/>
            <a:chExt cx="4605774" cy="2090549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B665F47-FA78-3A42-CAED-43D17FE07B84}"/>
                </a:ext>
              </a:extLst>
            </p:cNvPr>
            <p:cNvSpPr/>
            <p:nvPr/>
          </p:nvSpPr>
          <p:spPr>
            <a:xfrm>
              <a:off x="138755" y="4437206"/>
              <a:ext cx="4605774" cy="395873"/>
            </a:xfrm>
            <a:custGeom>
              <a:avLst/>
              <a:gdLst>
                <a:gd name="connsiteX0" fmla="*/ 0 w 4605774"/>
                <a:gd name="connsiteY0" fmla="*/ 0 h 518400"/>
                <a:gd name="connsiteX1" fmla="*/ 4605774 w 4605774"/>
                <a:gd name="connsiteY1" fmla="*/ 0 h 518400"/>
                <a:gd name="connsiteX2" fmla="*/ 4605774 w 4605774"/>
                <a:gd name="connsiteY2" fmla="*/ 518400 h 518400"/>
                <a:gd name="connsiteX3" fmla="*/ 0 w 4605774"/>
                <a:gd name="connsiteY3" fmla="*/ 518400 h 518400"/>
                <a:gd name="connsiteX4" fmla="*/ 0 w 4605774"/>
                <a:gd name="connsiteY4" fmla="*/ 0 h 51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05774" h="518400">
                  <a:moveTo>
                    <a:pt x="0" y="0"/>
                  </a:moveTo>
                  <a:lnTo>
                    <a:pt x="4605774" y="0"/>
                  </a:lnTo>
                  <a:lnTo>
                    <a:pt x="4605774" y="518400"/>
                  </a:lnTo>
                  <a:lnTo>
                    <a:pt x="0" y="5184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6012" tIns="54864" rIns="96012" bIns="54864" numCol="1" spcCol="1270" anchor="ctr" anchorCtr="0">
              <a:noAutofit/>
            </a:bodyPr>
            <a:lstStyle/>
            <a:p>
              <a:pPr algn="ctr" defTabSz="60007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500" b="1" dirty="0"/>
                <a:t>Features</a:t>
              </a:r>
              <a:endParaRPr lang="en-IN" sz="1500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625630E-2FDC-A91A-CE2A-ED9291A48B0B}"/>
                </a:ext>
              </a:extLst>
            </p:cNvPr>
            <p:cNvSpPr/>
            <p:nvPr/>
          </p:nvSpPr>
          <p:spPr>
            <a:xfrm>
              <a:off x="138755" y="4833079"/>
              <a:ext cx="4605774" cy="1694676"/>
            </a:xfrm>
            <a:custGeom>
              <a:avLst/>
              <a:gdLst>
                <a:gd name="connsiteX0" fmla="*/ 0 w 4605774"/>
                <a:gd name="connsiteY0" fmla="*/ 0 h 1877579"/>
                <a:gd name="connsiteX1" fmla="*/ 4605774 w 4605774"/>
                <a:gd name="connsiteY1" fmla="*/ 0 h 1877579"/>
                <a:gd name="connsiteX2" fmla="*/ 4605774 w 4605774"/>
                <a:gd name="connsiteY2" fmla="*/ 1877579 h 1877579"/>
                <a:gd name="connsiteX3" fmla="*/ 0 w 4605774"/>
                <a:gd name="connsiteY3" fmla="*/ 1877579 h 1877579"/>
                <a:gd name="connsiteX4" fmla="*/ 0 w 4605774"/>
                <a:gd name="connsiteY4" fmla="*/ 0 h 1877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05774" h="1877579">
                  <a:moveTo>
                    <a:pt x="0" y="0"/>
                  </a:moveTo>
                  <a:lnTo>
                    <a:pt x="4605774" y="0"/>
                  </a:lnTo>
                  <a:lnTo>
                    <a:pt x="4605774" y="1877579"/>
                  </a:lnTo>
                  <a:lnTo>
                    <a:pt x="0" y="187757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009" tIns="72009" rIns="96012" bIns="108014" numCol="1" spcCol="1270" anchor="t" anchorCtr="0">
              <a:noAutofit/>
            </a:bodyPr>
            <a:lstStyle/>
            <a:p>
              <a:pPr marL="128588" lvl="1" indent="-128588" defTabSz="60007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IN" sz="1200" b="1" dirty="0"/>
                <a:t>Dimension:</a:t>
              </a:r>
              <a:r>
                <a:rPr lang="en-IN" sz="1200" dirty="0"/>
                <a:t> L70cmXW37.5cmXH8.5cm</a:t>
              </a:r>
            </a:p>
            <a:p>
              <a:pPr marL="128588" lvl="1" indent="-128588" defTabSz="60007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IN" sz="1200" dirty="0"/>
                <a:t>Compact Design high power density</a:t>
              </a:r>
            </a:p>
            <a:p>
              <a:pPr marL="128588" lvl="1" indent="-128588" defTabSz="60007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IN" sz="1200" dirty="0"/>
                <a:t>Pre-charging and EMI filter circuit</a:t>
              </a:r>
            </a:p>
            <a:p>
              <a:pPr marL="128588" lvl="1" indent="-128588" defTabSz="60007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IN" sz="1200" dirty="0"/>
                <a:t>Integrated Sensor circuit.</a:t>
              </a:r>
            </a:p>
            <a:p>
              <a:pPr marL="128588" lvl="1" indent="-128588" defTabSz="60007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IN" sz="1200" dirty="0"/>
                <a:t>Decoupled Control of Two stages.</a:t>
              </a:r>
            </a:p>
            <a:p>
              <a:pPr marL="128588" lvl="1" indent="-128588" defTabSz="60007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IN" sz="1200" dirty="0"/>
                <a:t>Integrated Auxiliary power supply (230V)</a:t>
              </a:r>
            </a:p>
            <a:p>
              <a:pPr marL="128588" lvl="1" indent="-128588" defTabSz="60007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IN" sz="1200" b="1" dirty="0"/>
                <a:t>Controller:</a:t>
              </a:r>
              <a:r>
                <a:rPr lang="en-IN" sz="1200" dirty="0"/>
                <a:t> TMDSCNCD28379D</a:t>
              </a:r>
            </a:p>
            <a:p>
              <a:pPr marL="128588" lvl="1" indent="-128588" defTabSz="60007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IN" sz="1200" dirty="0"/>
                <a:t>Resonant Converter designed in ANSYS.</a:t>
              </a:r>
            </a:p>
            <a:p>
              <a:pPr marL="128588" lvl="1" indent="-128588" defTabSz="60007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IN" sz="1200" b="1" dirty="0"/>
                <a:t>Feedbacks: </a:t>
              </a:r>
              <a:r>
                <a:rPr lang="en-IN" sz="1200" dirty="0"/>
                <a:t>Current Sensing, DC Link Voltage Sensing, AC Voltage Sensing.</a:t>
              </a:r>
            </a:p>
            <a:p>
              <a:pPr marL="128588" lvl="1" indent="-128588" defTabSz="60007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en-IN" sz="1200" b="1" dirty="0"/>
                <a:t>Protections:</a:t>
              </a:r>
              <a:r>
                <a:rPr lang="en-IN" sz="1200" dirty="0"/>
                <a:t> Overload, Overvoltage.</a:t>
              </a:r>
            </a:p>
            <a:p>
              <a:pPr marL="128588" lvl="1" indent="-128588" defTabSz="600075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IN" sz="1200" dirty="0"/>
            </a:p>
          </p:txBody>
        </p:sp>
      </p:grpSp>
      <p:pic>
        <p:nvPicPr>
          <p:cNvPr id="2" name="Content Placeholder 6" descr="A diagram of electrical circuits">
            <a:extLst>
              <a:ext uri="{FF2B5EF4-FFF2-40B4-BE49-F238E27FC236}">
                <a16:creationId xmlns:a16="http://schemas.microsoft.com/office/drawing/2014/main" id="{D17D9C10-417F-79D9-B178-7C328B1ABD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86" y="890871"/>
            <a:ext cx="9363027" cy="3236601"/>
          </a:xfrm>
          <a:prstGeom prst="rect">
            <a:avLst/>
          </a:prstGeom>
        </p:spPr>
      </p:pic>
      <p:pic>
        <p:nvPicPr>
          <p:cNvPr id="3" name="Content Placeholder 6">
            <a:extLst>
              <a:ext uri="{FF2B5EF4-FFF2-40B4-BE49-F238E27FC236}">
                <a16:creationId xmlns:a16="http://schemas.microsoft.com/office/drawing/2014/main" id="{5FE2DC13-FB0D-BA9A-1AF1-AC6BE18251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84578" y="4129441"/>
            <a:ext cx="4982829" cy="166544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Content Placeholder 15">
                <a:extLst>
                  <a:ext uri="{FF2B5EF4-FFF2-40B4-BE49-F238E27FC236}">
                    <a16:creationId xmlns:a16="http://schemas.microsoft.com/office/drawing/2014/main" id="{B20FF5AF-436D-01F0-A46A-7ACABD3AA4E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86803200"/>
                  </p:ext>
                </p:extLst>
              </p:nvPr>
            </p:nvGraphicFramePr>
            <p:xfrm>
              <a:off x="119086" y="4217769"/>
              <a:ext cx="4129838" cy="357956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90814">
                      <a:extLst>
                        <a:ext uri="{9D8B030D-6E8A-4147-A177-3AD203B41FA5}">
                          <a16:colId xmlns:a16="http://schemas.microsoft.com/office/drawing/2014/main" val="1776022746"/>
                        </a:ext>
                      </a:extLst>
                    </a:gridCol>
                    <a:gridCol w="1239024">
                      <a:extLst>
                        <a:ext uri="{9D8B030D-6E8A-4147-A177-3AD203B41FA5}">
                          <a16:colId xmlns:a16="http://schemas.microsoft.com/office/drawing/2014/main" val="3897099450"/>
                        </a:ext>
                      </a:extLst>
                    </a:gridCol>
                  </a:tblGrid>
                  <a:tr h="3601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Parameters</a:t>
                          </a:r>
                          <a:endParaRPr lang="en-IN" sz="1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Specifications</a:t>
                          </a:r>
                          <a:endParaRPr lang="en-IN" sz="14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64807478"/>
                      </a:ext>
                    </a:extLst>
                  </a:tr>
                  <a:tr h="3323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Peak Power Rating</a:t>
                          </a:r>
                          <a:endParaRPr lang="en-IN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6.6 kW</a:t>
                          </a:r>
                          <a:endParaRPr lang="en-IN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22723704"/>
                      </a:ext>
                    </a:extLst>
                  </a:tr>
                  <a:tr h="3323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Switching Frequency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𝑠𝑤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126 kHz</a:t>
                          </a:r>
                          <a:endParaRPr lang="en-IN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6556221"/>
                      </a:ext>
                    </a:extLst>
                  </a:tr>
                  <a:tr h="3323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Input AC Voltages(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𝑎𝑐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, L-L)</a:t>
                          </a:r>
                          <a:endParaRPr lang="en-IN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300-415 V, 50 Hz</a:t>
                          </a:r>
                          <a:endParaRPr lang="en-IN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3546743"/>
                      </a:ext>
                    </a:extLst>
                  </a:tr>
                  <a:tr h="3323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DC Link Voltages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𝑑𝑐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en-IN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900-1100 V</a:t>
                          </a:r>
                          <a:endParaRPr lang="en-IN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02613885"/>
                      </a:ext>
                    </a:extLst>
                  </a:tr>
                  <a:tr h="3323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Battery Voltage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𝑏𝑎𝑡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en-IN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600-800 V</a:t>
                          </a:r>
                          <a:endParaRPr lang="en-IN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45279737"/>
                      </a:ext>
                    </a:extLst>
                  </a:tr>
                  <a:tr h="5402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Primary and Secondary bridge Duty ratio(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en-IN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0.6</a:t>
                          </a:r>
                          <a:endParaRPr lang="en-IN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05088621"/>
                      </a:ext>
                    </a:extLst>
                  </a:tr>
                  <a:tr h="33230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Input Inductances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en-IN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800 µH</a:t>
                          </a:r>
                          <a:endParaRPr lang="en-IN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22617556"/>
                      </a:ext>
                    </a:extLst>
                  </a:tr>
                  <a:tr h="34265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DC Link Capacitances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en-US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kumimoji="0" lang="en-US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𝑑𝑐</m:t>
                                  </m:r>
                                  <m:r>
                                    <a:rPr kumimoji="0" lang="en-US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0" lang="en-IN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en-US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kumimoji="0" lang="en-US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𝑑𝑐</m:t>
                                  </m:r>
                                  <m:r>
                                    <a:rPr kumimoji="0" lang="en-US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0" lang="en-IN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600 µF</a:t>
                          </a:r>
                          <a:endParaRPr lang="en-IN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240186"/>
                      </a:ext>
                    </a:extLst>
                  </a:tr>
                  <a:tr h="3426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Output DC Capacitances </a:t>
                          </a:r>
                          <a:r>
                            <a:rPr kumimoji="0" lang="en-US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en-US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kumimoji="0" lang="en-US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𝑜</m:t>
                                  </m:r>
                                  <m:r>
                                    <a:rPr kumimoji="0" lang="en-US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0" lang="en-IN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en-US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kumimoji="0" lang="en-US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𝑜</m:t>
                                  </m:r>
                                  <m:r>
                                    <a:rPr kumimoji="0" lang="en-US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0" lang="en-IN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)</a:t>
                          </a:r>
                          <a:endParaRPr lang="en-IN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300 µF</a:t>
                          </a:r>
                          <a:endParaRPr lang="en-IN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709129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Content Placeholder 15">
                <a:extLst>
                  <a:ext uri="{FF2B5EF4-FFF2-40B4-BE49-F238E27FC236}">
                    <a16:creationId xmlns:a16="http://schemas.microsoft.com/office/drawing/2014/main" id="{B20FF5AF-436D-01F0-A46A-7ACABD3AA4E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86803200"/>
                  </p:ext>
                </p:extLst>
              </p:nvPr>
            </p:nvGraphicFramePr>
            <p:xfrm>
              <a:off x="119086" y="4217769"/>
              <a:ext cx="4129838" cy="357956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90814">
                      <a:extLst>
                        <a:ext uri="{9D8B030D-6E8A-4147-A177-3AD203B41FA5}">
                          <a16:colId xmlns:a16="http://schemas.microsoft.com/office/drawing/2014/main" val="1776022746"/>
                        </a:ext>
                      </a:extLst>
                    </a:gridCol>
                    <a:gridCol w="1239024">
                      <a:extLst>
                        <a:ext uri="{9D8B030D-6E8A-4147-A177-3AD203B41FA5}">
                          <a16:colId xmlns:a16="http://schemas.microsoft.com/office/drawing/2014/main" val="3897099450"/>
                        </a:ext>
                      </a:extLst>
                    </a:gridCol>
                  </a:tblGrid>
                  <a:tr h="3601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Parameters</a:t>
                          </a:r>
                          <a:endParaRPr lang="en-IN" sz="1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Specifications</a:t>
                          </a:r>
                          <a:endParaRPr lang="en-IN" sz="14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64807478"/>
                      </a:ext>
                    </a:extLst>
                  </a:tr>
                  <a:tr h="3323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Peak Power Rating</a:t>
                          </a:r>
                          <a:endParaRPr lang="en-IN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6.6 kW</a:t>
                          </a:r>
                          <a:endParaRPr lang="en-IN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22723704"/>
                      </a:ext>
                    </a:extLst>
                  </a:tr>
                  <a:tr h="3323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11" t="-209091" r="-43789" b="-76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126 kHz</a:t>
                          </a:r>
                          <a:endParaRPr lang="en-IN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6556221"/>
                      </a:ext>
                    </a:extLst>
                  </a:tr>
                  <a:tr h="3323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11" t="-314815" r="-43789" b="-681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300-415 V, 50 Hz</a:t>
                          </a:r>
                          <a:endParaRPr lang="en-IN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3546743"/>
                      </a:ext>
                    </a:extLst>
                  </a:tr>
                  <a:tr h="3323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11" t="-407273" r="-43789" b="-56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900-1100 V</a:t>
                          </a:r>
                          <a:endParaRPr lang="en-IN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02613885"/>
                      </a:ext>
                    </a:extLst>
                  </a:tr>
                  <a:tr h="3323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11" t="-507273" r="-43789" b="-46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600-800 V</a:t>
                          </a:r>
                          <a:endParaRPr lang="en-IN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45279737"/>
                      </a:ext>
                    </a:extLst>
                  </a:tr>
                  <a:tr h="5402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11" t="-375281" r="-43789" b="-1898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0.6</a:t>
                          </a:r>
                          <a:endParaRPr lang="en-IN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05088621"/>
                      </a:ext>
                    </a:extLst>
                  </a:tr>
                  <a:tr h="3323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11" t="-783333" r="-43789" b="-21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800 µH</a:t>
                          </a:r>
                          <a:endParaRPr lang="en-IN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22617556"/>
                      </a:ext>
                    </a:extLst>
                  </a:tr>
                  <a:tr h="3426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11" t="-836842" r="-43789" b="-101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600 µF</a:t>
                          </a:r>
                          <a:endParaRPr lang="en-IN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240186"/>
                      </a:ext>
                    </a:extLst>
                  </a:tr>
                  <a:tr h="3426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11" t="-953571" r="-43789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300 µF</a:t>
                          </a:r>
                          <a:endParaRPr lang="en-IN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7091294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8" name="Content Placeholder 15">
            <a:extLst>
              <a:ext uri="{FF2B5EF4-FFF2-40B4-BE49-F238E27FC236}">
                <a16:creationId xmlns:a16="http://schemas.microsoft.com/office/drawing/2014/main" id="{D3115844-7B90-D020-7874-3C55DE164B4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3022" b="32768"/>
          <a:stretch/>
        </p:blipFill>
        <p:spPr>
          <a:xfrm>
            <a:off x="119086" y="7889060"/>
            <a:ext cx="3110547" cy="236449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9" name="Content Placeholder 19">
            <a:extLst>
              <a:ext uri="{FF2B5EF4-FFF2-40B4-BE49-F238E27FC236}">
                <a16:creationId xmlns:a16="http://schemas.microsoft.com/office/drawing/2014/main" id="{2C88BF5D-BC86-3E12-3800-307EF2E2751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868" b="39869"/>
          <a:stretch/>
        </p:blipFill>
        <p:spPr>
          <a:xfrm>
            <a:off x="119086" y="10342276"/>
            <a:ext cx="3117068" cy="237059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30" name="Content Placeholder 25">
            <a:extLst>
              <a:ext uri="{FF2B5EF4-FFF2-40B4-BE49-F238E27FC236}">
                <a16:creationId xmlns:a16="http://schemas.microsoft.com/office/drawing/2014/main" id="{CFA9FFB5-7BB0-575D-7C86-E22294F9594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6501" b="37542"/>
          <a:stretch/>
        </p:blipFill>
        <p:spPr>
          <a:xfrm>
            <a:off x="3327992" y="7886059"/>
            <a:ext cx="3110548" cy="236749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31" name="Content Placeholder 29">
            <a:extLst>
              <a:ext uri="{FF2B5EF4-FFF2-40B4-BE49-F238E27FC236}">
                <a16:creationId xmlns:a16="http://schemas.microsoft.com/office/drawing/2014/main" id="{B1C20CCA-E239-9A44-6F38-8B2F9207E44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7172" b="41429"/>
          <a:stretch/>
        </p:blipFill>
        <p:spPr>
          <a:xfrm>
            <a:off x="3327993" y="10342276"/>
            <a:ext cx="3110547" cy="237059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32" name="Content Placeholder 8" descr="A screenshot of a computer">
            <a:extLst>
              <a:ext uri="{FF2B5EF4-FFF2-40B4-BE49-F238E27FC236}">
                <a16:creationId xmlns:a16="http://schemas.microsoft.com/office/drawing/2014/main" id="{D2470994-5FC2-6EB7-688A-212E6B9D884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987" y="5850626"/>
            <a:ext cx="4074645" cy="199106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6973C58-CD7E-3F5E-8F4B-18D0F505876C}"/>
              </a:ext>
            </a:extLst>
          </p:cNvPr>
          <p:cNvSpPr txBox="1"/>
          <p:nvPr/>
        </p:nvSpPr>
        <p:spPr>
          <a:xfrm>
            <a:off x="6453844" y="10633578"/>
            <a:ext cx="3028269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1400" b="1" dirty="0"/>
              <a:t>Conclusion</a:t>
            </a:r>
          </a:p>
          <a:p>
            <a:pPr algn="just"/>
            <a:r>
              <a:rPr lang="en-US" sz="1200" dirty="0"/>
              <a:t>Converter size is optimized due to the reduced number of power devices.</a:t>
            </a:r>
          </a:p>
          <a:p>
            <a:pPr algn="just"/>
            <a:r>
              <a:rPr lang="en-US" sz="1200" dirty="0"/>
              <a:t>Transformer and Inductor size is reduced.</a:t>
            </a:r>
          </a:p>
          <a:p>
            <a:pPr algn="just"/>
            <a:r>
              <a:rPr lang="en-US" sz="1200" dirty="0"/>
              <a:t>Disturbance rejection is improved.</a:t>
            </a:r>
          </a:p>
          <a:p>
            <a:pPr marL="0" indent="0" algn="just">
              <a:buNone/>
            </a:pPr>
            <a:r>
              <a:rPr lang="en-US" sz="1400" b="1" dirty="0"/>
              <a:t>Future Scope</a:t>
            </a:r>
            <a:endParaRPr lang="en-US" sz="1400" dirty="0"/>
          </a:p>
          <a:p>
            <a:pPr algn="just"/>
            <a:r>
              <a:rPr lang="en-US" sz="1200" dirty="0"/>
              <a:t>The same scenario can be implemented with the other DC-DC and AC-DC configurations.</a:t>
            </a:r>
          </a:p>
          <a:p>
            <a:pPr algn="just"/>
            <a:r>
              <a:rPr lang="en-US" sz="1200" dirty="0"/>
              <a:t>Advance control techniques can be implemented to optimize the performance.</a:t>
            </a:r>
          </a:p>
          <a:p>
            <a:pPr algn="just"/>
            <a:r>
              <a:rPr lang="en-US" sz="1200" dirty="0"/>
              <a:t>Integration with renewable energy sources.</a:t>
            </a:r>
          </a:p>
        </p:txBody>
      </p:sp>
    </p:spTree>
    <p:extLst>
      <p:ext uri="{BB962C8B-B14F-4D97-AF65-F5344CB8AC3E}">
        <p14:creationId xmlns:p14="http://schemas.microsoft.com/office/powerpoint/2010/main" val="1548819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618</TotalTime>
  <Words>215</Words>
  <Application>Microsoft Office PowerPoint</Application>
  <PresentationFormat>A3 Paper (297x420 mm)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Cambria Math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Hamim Zafar</dc:creator>
  <cp:lastModifiedBy>Rajarsh Dwivedi</cp:lastModifiedBy>
  <cp:revision>12</cp:revision>
  <cp:lastPrinted>2024-05-02T12:33:06Z</cp:lastPrinted>
  <dcterms:created xsi:type="dcterms:W3CDTF">2024-01-20T08:47:04Z</dcterms:created>
  <dcterms:modified xsi:type="dcterms:W3CDTF">2026-01-14T23:36:52Z</dcterms:modified>
</cp:coreProperties>
</file>